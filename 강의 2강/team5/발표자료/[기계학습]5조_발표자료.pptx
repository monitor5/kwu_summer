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주제 소개, 문제 제기, 캘린더 , 파이프라인 , 데이터, 모델 분석,  XAI ,
주제 소개 3
데이터 선정 및 수집
4P 전력 수요량
5P 기후 데이터(AWS)
데이터 전처리
모델 학습
train validation data
feature hyperparameter
XGBoost 
결과 해석
결과 시각화
XAI(SHAP)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캘린더 준권님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수집 ( 전력 수요량) 효원님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수집 (기후데이터 ) 준권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수집 (기후데이터 ) 준권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전처리(기후데이터) 효원님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전처리(전력 수요) 강동우 
시간 결측치 선형 보간 방법으로 처리
다른 피처와의 통일성을 위해 1시간 단위로 합침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학습(XGBoost) 강동우
3. 정형 데이터 최적화
전력 수요처럼 시간별 수치가 잘 정리된 표 형태 데이터에 매우 강함
lag, rolling mean, hour, dayofweek 등 파생 변수로 시계열성을 충분히 표현 가능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 standalone="yes"?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r><a:rPr lang="en-US" dirty="0"/><a:t>그리드 탐색 방식을 활용하여 하이퍼 파라미터(n_estimators, max_depth, learning_rate)를 최적화.

각 하이퍼 파라미터 후보 리스트를 설정 e.g., n_estimators=[100, 200, 1000, 2000]

각 하이퍼 파라미터 후보 리스트로 가능한 모든 하이퍼 파라미터 후보 조합을 제작.

가능한 모든 조합에 대하여 모델을 fitting 후 평가.

가장 좋은 성적을 성적 모델을 저장.

가장 좋은 성적을 낸 모델의 하이퍼 파라미터를 참고하여 그 주변으로 다시 하이퍼 파라미터 후보 리스트를 구성

-&gt; 조합 어쩌구 반복.

총 3번의 하이퍼 파라미터 최적화를 거침.</a:t></a:r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12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결과XAI 강동우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재귀 방식 예측 1주일 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특정시점에서의 XAI 그 시점에서의 평균f(x)는 784366 이지만 XAI 결과로 699221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47850"/>
            <a:ext cx="5715000" cy="14478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890962" y="3786188"/>
            <a:ext cx="4763" cy="14288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0962" y="3786188"/>
            <a:ext cx="4763" cy="14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3295650"/>
            <a:ext cx="4095750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2021204047 강동우, 2025404045 이효원, 20203222021 이준권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63000" y="257175"/>
            <a:ext cx="523875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09600" y="1847850"/>
            <a:ext cx="6172200" cy="1095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기상관측(AWS)데이터 기반</a:t>
            </a:r>
            <a:endParaRPr lang="en-US" sz="3600" dirty="0"/>
          </a:p>
          <a:p>
            <a:pPr algn="l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전력 사용량 예측 모델 제작.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09600" y="3057525"/>
            <a:ext cx="6172200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2025. 1학기 - 기계학습 5팀.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2319338"/>
            <a:ext cx="31242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3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목차.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386263" y="1819275"/>
            <a:ext cx="1790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Font typeface="+mj-lt"/>
              <a:buAutoNum type="arabicPeriod" startAt="1"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주제 소개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400800" y="1819275"/>
            <a:ext cx="217646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Font typeface="+mj-lt"/>
              <a:buAutoNum type="arabicPeriod" startAt="1"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모델 학습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0" y="2476500"/>
            <a:ext cx="1790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Font typeface="+mj-lt"/>
              <a:buAutoNum type="arabicPeriod" startAt="1"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결과 해석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0" y="3095625"/>
            <a:ext cx="217646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Font typeface="+mj-lt"/>
              <a:buAutoNum type="arabicPeriod" startAt="1"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마무리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386263" y="3095625"/>
            <a:ext cx="1790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Font typeface="+mj-lt"/>
              <a:buAutoNum type="arabicPeriod" startAt="1"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데이터 전처리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386263" y="2471738"/>
            <a:ext cx="217646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Font typeface="+mj-lt"/>
              <a:buAutoNum type="arabicPeriod" startAt="1"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데이터 선정 및 수집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2586038"/>
            <a:ext cx="6172200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of Contents.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534400" y="176213"/>
            <a:ext cx="523875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0988" y="133350"/>
            <a:ext cx="3100388" cy="347663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8" y="481012"/>
            <a:ext cx="8720138" cy="2381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814388"/>
            <a:ext cx="4076700" cy="2281238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38" y="814388"/>
            <a:ext cx="4224338" cy="3038475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3910013"/>
            <a:ext cx="1578281" cy="9048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80988" y="195263"/>
            <a:ext cx="42576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01  문제 제기</a:t>
            </a:r>
            <a:endParaRPr lang="en-US" sz="1350" dirty="0"/>
          </a:p>
        </p:txBody>
      </p:sp>
      <p:sp>
        <p:nvSpPr>
          <p:cNvPr id="8" name="Text 2"/>
          <p:cNvSpPr/>
          <p:nvPr/>
        </p:nvSpPr>
        <p:spPr>
          <a:xfrm>
            <a:off x="614363" y="4100513"/>
            <a:ext cx="83724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지구온난화에 따른 기후 변화로 인한 전력 수요량 변화 및 증가 추이</a:t>
            </a:r>
            <a:endParaRPr lang="en-US" sz="1350" dirty="0"/>
          </a:p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기상관측 데이터 기반 전력 수요량 예측 모델 구축</a:t>
            </a: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8343900" y="233362"/>
            <a:ext cx="9048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190750" y="1771650"/>
            <a:ext cx="1600200" cy="723900"/>
          </a:xfrm>
          <a:prstGeom prst="rect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5353050" y="1771650"/>
            <a:ext cx="1600200" cy="723900"/>
          </a:xfrm>
          <a:prstGeom prst="rect">
            <a:avLst/>
          </a:prstGeom>
          <a:noFill/>
          <a:ln/>
        </p:spPr>
      </p:sp>
      <p:sp>
        <p:nvSpPr>
          <p:cNvPr id="5" name="Shape 2"/>
          <p:cNvSpPr/>
          <p:nvPr/>
        </p:nvSpPr>
        <p:spPr>
          <a:xfrm>
            <a:off x="3771900" y="2495550"/>
            <a:ext cx="1600200" cy="723900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>
            <a:off x="6934200" y="2495550"/>
            <a:ext cx="1600200" cy="876300"/>
          </a:xfrm>
          <a:prstGeom prst="rect">
            <a:avLst/>
          </a:prstGeom>
          <a:noFill/>
          <a:ln/>
        </p:spPr>
      </p:sp>
      <p:sp>
        <p:nvSpPr>
          <p:cNvPr id="7" name="Shape 4"/>
          <p:cNvSpPr/>
          <p:nvPr/>
        </p:nvSpPr>
        <p:spPr>
          <a:xfrm>
            <a:off x="609600" y="2495550"/>
            <a:ext cx="1600200" cy="723900"/>
          </a:xfrm>
          <a:prstGeom prst="rect">
            <a:avLst/>
          </a:prstGeom>
          <a:noFill/>
          <a:ln/>
        </p:spPr>
      </p:sp>
      <p:sp>
        <p:nvSpPr>
          <p:cNvPr id="8" name="Shape 5"/>
          <p:cNvSpPr/>
          <p:nvPr/>
        </p:nvSpPr>
        <p:spPr>
          <a:xfrm>
            <a:off x="280988" y="133350"/>
            <a:ext cx="3100388" cy="347663"/>
          </a:xfrm>
          <a:prstGeom prst="rect">
            <a:avLst/>
          </a:prstGeom>
          <a:noFill/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63" y="2495550"/>
            <a:ext cx="7939087" cy="1905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8" y="481012"/>
            <a:ext cx="8720138" cy="23813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95550"/>
            <a:ext cx="9525" cy="276225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2495550"/>
            <a:ext cx="9525" cy="276225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0" y="2495550"/>
            <a:ext cx="9525" cy="27622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3050" y="2228850"/>
            <a:ext cx="9525" cy="276225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0750" y="2228850"/>
            <a:ext cx="9525" cy="276225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280988" y="195263"/>
            <a:ext cx="42576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02  진행사항 보고</a:t>
            </a:r>
            <a:endParaRPr lang="en-US" sz="1350" dirty="0"/>
          </a:p>
        </p:txBody>
      </p:sp>
      <p:sp>
        <p:nvSpPr>
          <p:cNvPr id="17" name="Text 7"/>
          <p:cNvSpPr/>
          <p:nvPr/>
        </p:nvSpPr>
        <p:spPr>
          <a:xfrm>
            <a:off x="8343900" y="233362"/>
            <a:ext cx="9048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8"/>
          <p:cNvSpPr/>
          <p:nvPr/>
        </p:nvSpPr>
        <p:spPr>
          <a:xfrm>
            <a:off x="609600" y="2819400"/>
            <a:ext cx="20574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8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2025.05.16</a:t>
            </a:r>
            <a:endParaRPr lang="en-US" sz="1088" dirty="0"/>
          </a:p>
        </p:txBody>
      </p:sp>
      <p:sp>
        <p:nvSpPr>
          <p:cNvPr id="19" name="Text 9"/>
          <p:cNvSpPr/>
          <p:nvPr/>
        </p:nvSpPr>
        <p:spPr>
          <a:xfrm>
            <a:off x="609600" y="3067050"/>
            <a:ext cx="20574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주제 아이디어 공유 및 선정</a:t>
            </a:r>
            <a:endParaRPr lang="en-US" sz="900" dirty="0"/>
          </a:p>
        </p:txBody>
      </p:sp>
      <p:sp>
        <p:nvSpPr>
          <p:cNvPr id="20" name="Text 10"/>
          <p:cNvSpPr/>
          <p:nvPr/>
        </p:nvSpPr>
        <p:spPr>
          <a:xfrm>
            <a:off x="6934200" y="2819400"/>
            <a:ext cx="20574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8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2025.06.17</a:t>
            </a:r>
            <a:endParaRPr lang="en-US" sz="1088" dirty="0"/>
          </a:p>
        </p:txBody>
      </p:sp>
      <p:sp>
        <p:nvSpPr>
          <p:cNvPr id="21" name="Text 11"/>
          <p:cNvSpPr/>
          <p:nvPr/>
        </p:nvSpPr>
        <p:spPr>
          <a:xfrm>
            <a:off x="6934200" y="3067050"/>
            <a:ext cx="2057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학습 모델 구축 및 결과 공유</a:t>
            </a:r>
            <a:endParaRPr lang="en-US" sz="900" dirty="0"/>
          </a:p>
          <a:p>
            <a:pPr algn="l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시각화</a:t>
            </a:r>
            <a:endParaRPr lang="en-US" sz="900" dirty="0"/>
          </a:p>
        </p:txBody>
      </p:sp>
      <p:sp>
        <p:nvSpPr>
          <p:cNvPr id="22" name="Text 12"/>
          <p:cNvSpPr/>
          <p:nvPr/>
        </p:nvSpPr>
        <p:spPr>
          <a:xfrm>
            <a:off x="3771900" y="2819400"/>
            <a:ext cx="20574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8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2025.06.05</a:t>
            </a:r>
            <a:endParaRPr lang="en-US" sz="1088" dirty="0"/>
          </a:p>
        </p:txBody>
      </p:sp>
      <p:sp>
        <p:nvSpPr>
          <p:cNvPr id="23" name="Text 13"/>
          <p:cNvSpPr/>
          <p:nvPr/>
        </p:nvSpPr>
        <p:spPr>
          <a:xfrm>
            <a:off x="3771900" y="3067050"/>
            <a:ext cx="20574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데이터 선정 및 수집</a:t>
            </a:r>
            <a:endParaRPr lang="en-US" sz="900" dirty="0"/>
          </a:p>
        </p:txBody>
      </p:sp>
      <p:sp>
        <p:nvSpPr>
          <p:cNvPr id="24" name="Text 14"/>
          <p:cNvSpPr/>
          <p:nvPr/>
        </p:nvSpPr>
        <p:spPr>
          <a:xfrm>
            <a:off x="5353050" y="1771650"/>
            <a:ext cx="20574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8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2025.06.13~</a:t>
            </a:r>
            <a:endParaRPr lang="en-US" sz="1088" dirty="0"/>
          </a:p>
        </p:txBody>
      </p:sp>
      <p:sp>
        <p:nvSpPr>
          <p:cNvPr id="25" name="Text 15"/>
          <p:cNvSpPr/>
          <p:nvPr/>
        </p:nvSpPr>
        <p:spPr>
          <a:xfrm>
            <a:off x="5353050" y="2019300"/>
            <a:ext cx="20574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데이터 전처리 및 모델 구체화</a:t>
            </a:r>
            <a:endParaRPr lang="en-US" sz="900" dirty="0"/>
          </a:p>
        </p:txBody>
      </p:sp>
      <p:sp>
        <p:nvSpPr>
          <p:cNvPr id="26" name="Text 16"/>
          <p:cNvSpPr/>
          <p:nvPr/>
        </p:nvSpPr>
        <p:spPr>
          <a:xfrm>
            <a:off x="2190750" y="1771650"/>
            <a:ext cx="20574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8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2025.05.26</a:t>
            </a:r>
            <a:endParaRPr lang="en-US" sz="1088" dirty="0"/>
          </a:p>
        </p:txBody>
      </p:sp>
      <p:sp>
        <p:nvSpPr>
          <p:cNvPr id="27" name="Text 17"/>
          <p:cNvSpPr/>
          <p:nvPr/>
        </p:nvSpPr>
        <p:spPr>
          <a:xfrm>
            <a:off x="2190750" y="2019300"/>
            <a:ext cx="20574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주제 아이디어 확정 구체화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700" y="871538"/>
            <a:ext cx="1376363" cy="7143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Data Collection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19375" y="871538"/>
            <a:ext cx="1376363" cy="7143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Data 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Preprocessing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52963" y="871538"/>
            <a:ext cx="1376363" cy="7143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Model Training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5125" y="1943100"/>
            <a:ext cx="1376363" cy="7143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Optimization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5125" y="871538"/>
            <a:ext cx="1376363" cy="7143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5125" y="3467100"/>
            <a:ext cx="1376363" cy="71437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XAI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80988" y="133350"/>
            <a:ext cx="3100388" cy="347663"/>
          </a:xfrm>
          <a:prstGeom prst="rect">
            <a:avLst/>
          </a:prstGeom>
          <a:noFill/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7738" y="2805113"/>
            <a:ext cx="1166813" cy="410375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8" y="2309813"/>
            <a:ext cx="1166813" cy="41037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309813"/>
            <a:ext cx="1347788" cy="474025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1704975"/>
            <a:ext cx="128588" cy="471488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738" y="2333625"/>
            <a:ext cx="1166813" cy="4103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850" y="1728788"/>
            <a:ext cx="128588" cy="471488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2600" y="1704975"/>
            <a:ext cx="128588" cy="471488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9375" y="2309813"/>
            <a:ext cx="1347788" cy="474025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8975" y="1704975"/>
            <a:ext cx="128588" cy="471488"/>
          </a:xfrm>
          <a:prstGeom prst="rect">
            <a:avLst/>
          </a:prstGeom>
        </p:spPr>
      </p:pic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938" y="1228725"/>
            <a:ext cx="319088" cy="140284"/>
          </a:xfrm>
          <a:prstGeom prst="rect">
            <a:avLst/>
          </a:prstGeom>
        </p:spPr>
      </p:pic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4813" y="1228725"/>
            <a:ext cx="319088" cy="140284"/>
          </a:xfrm>
          <a:prstGeom prst="rect">
            <a:avLst/>
          </a:prstGeom>
        </p:spPr>
      </p:pic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0775" y="1228725"/>
            <a:ext cx="319088" cy="140284"/>
          </a:xfrm>
          <a:prstGeom prst="rect">
            <a:avLst/>
          </a:prstGeom>
        </p:spPr>
      </p:pic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38963" y="1047750"/>
            <a:ext cx="928688" cy="357188"/>
          </a:xfrm>
          <a:prstGeom prst="rect">
            <a:avLst/>
          </a:prstGeom>
        </p:spPr>
      </p:pic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5688" y="2828925"/>
            <a:ext cx="140283" cy="447675"/>
          </a:xfrm>
          <a:prstGeom prst="rect">
            <a:avLst/>
          </a:prstGeom>
        </p:spPr>
      </p:pic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0988" y="481012"/>
            <a:ext cx="8720138" cy="23813"/>
          </a:xfrm>
          <a:prstGeom prst="rect">
            <a:avLst/>
          </a:prstGeom>
        </p:spPr>
      </p:pic>
      <p:pic>
        <p:nvPicPr>
          <p:cNvPr id="2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7738" y="3276600"/>
            <a:ext cx="1166813" cy="410375"/>
          </a:xfrm>
          <a:prstGeom prst="rect">
            <a:avLst/>
          </a:prstGeom>
        </p:spPr>
      </p:pic>
      <p:pic>
        <p:nvPicPr>
          <p:cNvPr id="2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15288" y="3619500"/>
            <a:ext cx="1128713" cy="410375"/>
          </a:xfrm>
          <a:prstGeom prst="rect">
            <a:avLst/>
          </a:prstGeom>
        </p:spPr>
      </p:pic>
      <p:pic>
        <p:nvPicPr>
          <p:cNvPr id="2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0525" y="1023938"/>
            <a:ext cx="1133475" cy="410375"/>
          </a:xfrm>
          <a:prstGeom prst="rect">
            <a:avLst/>
          </a:prstGeom>
        </p:spPr>
      </p:pic>
      <p:pic>
        <p:nvPicPr>
          <p:cNvPr id="2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15288" y="2005013"/>
            <a:ext cx="1128713" cy="410375"/>
          </a:xfrm>
          <a:prstGeom prst="rect">
            <a:avLst/>
          </a:prstGeom>
        </p:spPr>
      </p:pic>
      <p:pic>
        <p:nvPicPr>
          <p:cNvPr id="2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5738" y="3540937"/>
            <a:ext cx="1166813" cy="410375"/>
          </a:xfrm>
          <a:prstGeom prst="rect">
            <a:avLst/>
          </a:prstGeom>
        </p:spPr>
      </p:pic>
      <p:pic>
        <p:nvPicPr>
          <p:cNvPr id="2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5738" y="3130562"/>
            <a:ext cx="1166813" cy="410375"/>
          </a:xfrm>
          <a:prstGeom prst="rect">
            <a:avLst/>
          </a:prstGeom>
        </p:spPr>
      </p:pic>
      <p:pic>
        <p:nvPicPr>
          <p:cNvPr id="3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5738" y="2720187"/>
            <a:ext cx="1166813" cy="410375"/>
          </a:xfrm>
          <a:prstGeom prst="rect">
            <a:avLst/>
          </a:prstGeom>
        </p:spPr>
      </p:pic>
      <p:sp>
        <p:nvSpPr>
          <p:cNvPr id="31" name="Text 7"/>
          <p:cNvSpPr/>
          <p:nvPr/>
        </p:nvSpPr>
        <p:spPr>
          <a:xfrm>
            <a:off x="421550" y="2441500"/>
            <a:ext cx="1152388" cy="147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68" b="1" spc="-1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Temparature</a:t>
            </a:r>
            <a:endParaRPr lang="en-US" sz="868" dirty="0"/>
          </a:p>
        </p:txBody>
      </p:sp>
      <p:sp>
        <p:nvSpPr>
          <p:cNvPr id="32" name="Text 8"/>
          <p:cNvSpPr/>
          <p:nvPr/>
        </p:nvSpPr>
        <p:spPr>
          <a:xfrm>
            <a:off x="1415388" y="2377025"/>
            <a:ext cx="1260212" cy="33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24"/>
              </a:lnSpc>
              <a:buNone/>
            </a:pPr>
            <a:r>
              <a:rPr lang="en-US" sz="1003" b="1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Electricity</a:t>
            </a:r>
            <a:endParaRPr lang="en-US" sz="1003" dirty="0"/>
          </a:p>
          <a:p>
            <a:pPr algn="ctr" indent="0" marL="0">
              <a:lnSpc>
                <a:spcPts val="1324"/>
              </a:lnSpc>
              <a:buNone/>
            </a:pPr>
            <a:r>
              <a:rPr lang="en-US" sz="1003" b="1" spc="-20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</a:t>
            </a:r>
            <a:endParaRPr lang="en-US" sz="1003" dirty="0"/>
          </a:p>
        </p:txBody>
      </p:sp>
      <p:sp>
        <p:nvSpPr>
          <p:cNvPr id="33" name="Text 9"/>
          <p:cNvSpPr/>
          <p:nvPr/>
        </p:nvSpPr>
        <p:spPr>
          <a:xfrm>
            <a:off x="4993550" y="2465312"/>
            <a:ext cx="1152388" cy="147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68" b="1" spc="-1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868" dirty="0"/>
          </a:p>
        </p:txBody>
      </p:sp>
      <p:sp>
        <p:nvSpPr>
          <p:cNvPr id="34" name="Text 10"/>
          <p:cNvSpPr/>
          <p:nvPr/>
        </p:nvSpPr>
        <p:spPr>
          <a:xfrm>
            <a:off x="2852738" y="2476500"/>
            <a:ext cx="134302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900" b="1" spc="-1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Weighed-Mean</a:t>
            </a:r>
            <a:endParaRPr lang="en-US" sz="900" dirty="0"/>
          </a:p>
        </p:txBody>
      </p:sp>
      <p:sp>
        <p:nvSpPr>
          <p:cNvPr id="35" name="Text 11"/>
          <p:cNvSpPr/>
          <p:nvPr/>
        </p:nvSpPr>
        <p:spPr>
          <a:xfrm>
            <a:off x="280988" y="195263"/>
            <a:ext cx="42576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02  데이터 선정 및 수집 </a:t>
            </a:r>
            <a:pPr algn="l" indent="0" marL="0">
              <a:lnSpc>
                <a:spcPts val="1287"/>
              </a:lnSpc>
              <a:buNone/>
            </a:pPr>
            <a:r>
              <a:rPr lang="en-US" sz="975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파이프라인</a:t>
            </a:r>
            <a:endParaRPr lang="en-US" sz="1350" dirty="0"/>
          </a:p>
        </p:txBody>
      </p:sp>
      <p:sp>
        <p:nvSpPr>
          <p:cNvPr id="36" name="Text 12"/>
          <p:cNvSpPr/>
          <p:nvPr/>
        </p:nvSpPr>
        <p:spPr>
          <a:xfrm>
            <a:off x="8343900" y="233362"/>
            <a:ext cx="9048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13"/>
          <p:cNvSpPr/>
          <p:nvPr/>
        </p:nvSpPr>
        <p:spPr>
          <a:xfrm>
            <a:off x="7348538" y="1657350"/>
            <a:ext cx="571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+</a:t>
            </a:r>
            <a:endParaRPr lang="en-US" sz="1350" dirty="0"/>
          </a:p>
        </p:txBody>
      </p:sp>
      <p:sp>
        <p:nvSpPr>
          <p:cNvPr id="38" name="Text 14"/>
          <p:cNvSpPr/>
          <p:nvPr/>
        </p:nvSpPr>
        <p:spPr>
          <a:xfrm>
            <a:off x="4993550" y="3408287"/>
            <a:ext cx="1152388" cy="147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68" b="1" spc="-1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Data</a:t>
            </a:r>
            <a:endParaRPr lang="en-US" sz="868" dirty="0"/>
          </a:p>
        </p:txBody>
      </p:sp>
      <p:sp>
        <p:nvSpPr>
          <p:cNvPr id="39" name="Text 15"/>
          <p:cNvSpPr/>
          <p:nvPr/>
        </p:nvSpPr>
        <p:spPr>
          <a:xfrm>
            <a:off x="4991100" y="2886075"/>
            <a:ext cx="1152388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68" b="1" spc="-1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Data</a:t>
            </a:r>
            <a:endParaRPr lang="en-US" sz="868" dirty="0"/>
          </a:p>
        </p:txBody>
      </p:sp>
      <p:sp>
        <p:nvSpPr>
          <p:cNvPr id="40" name="Text 16"/>
          <p:cNvSpPr/>
          <p:nvPr/>
        </p:nvSpPr>
        <p:spPr>
          <a:xfrm>
            <a:off x="8251100" y="3751187"/>
            <a:ext cx="1152388" cy="147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68" b="1" spc="-1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</a:t>
            </a:r>
            <a:endParaRPr lang="en-US" sz="868" dirty="0"/>
          </a:p>
        </p:txBody>
      </p:sp>
      <p:sp>
        <p:nvSpPr>
          <p:cNvPr id="41" name="Text 17"/>
          <p:cNvSpPr/>
          <p:nvPr/>
        </p:nvSpPr>
        <p:spPr>
          <a:xfrm>
            <a:off x="8162925" y="1157288"/>
            <a:ext cx="1304925" cy="147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68" b="1" spc="-1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XGBRegressor</a:t>
            </a:r>
            <a:endParaRPr lang="en-US" sz="868" dirty="0"/>
          </a:p>
        </p:txBody>
      </p:sp>
      <p:sp>
        <p:nvSpPr>
          <p:cNvPr id="42" name="Text 18"/>
          <p:cNvSpPr/>
          <p:nvPr/>
        </p:nvSpPr>
        <p:spPr>
          <a:xfrm>
            <a:off x="8251100" y="2136700"/>
            <a:ext cx="1152388" cy="147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68" b="1" spc="-1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H.P Tuning</a:t>
            </a:r>
            <a:endParaRPr lang="en-US" sz="868" dirty="0"/>
          </a:p>
        </p:txBody>
      </p:sp>
      <p:sp>
        <p:nvSpPr>
          <p:cNvPr id="43" name="Text 19"/>
          <p:cNvSpPr/>
          <p:nvPr/>
        </p:nvSpPr>
        <p:spPr>
          <a:xfrm>
            <a:off x="421550" y="3672625"/>
            <a:ext cx="1152388" cy="147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68" b="1" spc="-1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 Speed</a:t>
            </a:r>
            <a:endParaRPr lang="en-US" sz="868" dirty="0"/>
          </a:p>
        </p:txBody>
      </p:sp>
      <p:sp>
        <p:nvSpPr>
          <p:cNvPr id="44" name="Text 20"/>
          <p:cNvSpPr/>
          <p:nvPr/>
        </p:nvSpPr>
        <p:spPr>
          <a:xfrm>
            <a:off x="421550" y="3262250"/>
            <a:ext cx="1152388" cy="147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68" b="1" spc="-1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Precipitation</a:t>
            </a:r>
            <a:endParaRPr lang="en-US" sz="868" dirty="0"/>
          </a:p>
        </p:txBody>
      </p:sp>
      <p:sp>
        <p:nvSpPr>
          <p:cNvPr id="45" name="Text 21"/>
          <p:cNvSpPr/>
          <p:nvPr/>
        </p:nvSpPr>
        <p:spPr>
          <a:xfrm>
            <a:off x="421550" y="2851875"/>
            <a:ext cx="1152388" cy="147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68" b="1" spc="-1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Humidity</a:t>
            </a:r>
            <a:endParaRPr lang="en-US" sz="86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643438" y="3695700"/>
            <a:ext cx="3076575" cy="838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한국전력거래소(KPX)</a:t>
            </a:r>
            <a:endParaRPr lang="en-US" dirty="0"/>
          </a:p>
          <a:p>
            <a:pPr indent="0" marL="0">
              <a:buNone/>
            </a:pP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실시간 전력수급현황 데이터 수집 (MW/시간)</a:t>
            </a: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8" y="481012"/>
            <a:ext cx="8720138" cy="2381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757363"/>
            <a:ext cx="1433513" cy="139541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413" y="842963"/>
            <a:ext cx="3543300" cy="258127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038" y="2295525"/>
            <a:ext cx="723900" cy="128588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443288"/>
            <a:ext cx="1157288" cy="112395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80988" y="195263"/>
            <a:ext cx="42576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02  데이터 선정 및 수집 </a:t>
            </a:r>
            <a:pPr algn="l" indent="0" marL="0">
              <a:lnSpc>
                <a:spcPts val="1287"/>
              </a:lnSpc>
              <a:buNone/>
            </a:pPr>
            <a:r>
              <a:rPr lang="en-US" sz="975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전력 수요량 데이터 수집</a:t>
            </a:r>
            <a:endParaRPr lang="en-US" sz="1350" dirty="0"/>
          </a:p>
        </p:txBody>
      </p:sp>
      <p:sp>
        <p:nvSpPr>
          <p:cNvPr id="10" name="Text 2"/>
          <p:cNvSpPr/>
          <p:nvPr/>
        </p:nvSpPr>
        <p:spPr>
          <a:xfrm>
            <a:off x="2114550" y="3443288"/>
            <a:ext cx="23479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Go Lang을 사용,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2021년 데이터부터 크롤링.</a:t>
            </a:r>
            <a:endParaRPr lang="en-US" sz="1350" dirty="0"/>
          </a:p>
        </p:txBody>
      </p:sp>
      <p:sp>
        <p:nvSpPr>
          <p:cNvPr id="11" name="Text 3"/>
          <p:cNvSpPr/>
          <p:nvPr/>
        </p:nvSpPr>
        <p:spPr>
          <a:xfrm>
            <a:off x="8343900" y="233362"/>
            <a:ext cx="9048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24288" y="3952875"/>
            <a:ext cx="4519613" cy="838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기상청 기상자료개방포털</a:t>
            </a:r>
            <a:endParaRPr lang="en-US" dirty="0"/>
          </a:p>
          <a:p>
            <a:pPr indent="0" marL="0">
              <a:buNone/>
            </a:pP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방재기상관측(AWS) → 기온, 풍속, 강수량 습도 데이터 수집(단위/시간)</a:t>
            </a: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8" y="481012"/>
            <a:ext cx="8720138" cy="2381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28850"/>
            <a:ext cx="1747838" cy="74771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0" y="2505075"/>
            <a:ext cx="723900" cy="128588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804863"/>
            <a:ext cx="2762250" cy="291465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280988" y="195263"/>
            <a:ext cx="42576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02  데이터 선정 및 수집 </a:t>
            </a:r>
            <a:pPr algn="l" indent="0" marL="0">
              <a:lnSpc>
                <a:spcPts val="1287"/>
              </a:lnSpc>
              <a:buNone/>
            </a:pPr>
            <a:r>
              <a:rPr lang="en-US" sz="975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기후 데이터 수집</a:t>
            </a:r>
            <a:endParaRPr lang="en-US" sz="1350" dirty="0"/>
          </a:p>
        </p:txBody>
      </p:sp>
      <p:sp>
        <p:nvSpPr>
          <p:cNvPr id="9" name="Text 2"/>
          <p:cNvSpPr/>
          <p:nvPr/>
        </p:nvSpPr>
        <p:spPr>
          <a:xfrm>
            <a:off x="8343900" y="233362"/>
            <a:ext cx="9048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24288" y="3952875"/>
            <a:ext cx="4519613" cy="838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통계청 KOSIS</a:t>
            </a:r>
            <a:endParaRPr lang="en-US" dirty="0"/>
          </a:p>
          <a:p>
            <a:pPr indent="0" marL="0">
              <a:buNone/>
            </a:pP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시군구 인구 데이터 및 지역별 신재생 에너지 발전량 데이터</a:t>
            </a: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8" y="481012"/>
            <a:ext cx="8720138" cy="2381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2505075"/>
            <a:ext cx="723900" cy="12858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3" y="2290763"/>
            <a:ext cx="1681163" cy="681038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050" y="1271588"/>
            <a:ext cx="2990850" cy="246697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280988" y="195263"/>
            <a:ext cx="42576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02  데이터 선정 및 수집 </a:t>
            </a:r>
            <a:pPr algn="l" indent="0" marL="0">
              <a:lnSpc>
                <a:spcPts val="1287"/>
              </a:lnSpc>
              <a:buNone/>
            </a:pPr>
            <a:r>
              <a:rPr lang="en-US" sz="975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기후 데이터 수집</a:t>
            </a:r>
            <a:endParaRPr lang="en-US" sz="1350" dirty="0"/>
          </a:p>
        </p:txBody>
      </p:sp>
      <p:sp>
        <p:nvSpPr>
          <p:cNvPr id="9" name="Text 2"/>
          <p:cNvSpPr/>
          <p:nvPr/>
        </p:nvSpPr>
        <p:spPr>
          <a:xfrm>
            <a:off x="8343900" y="233362"/>
            <a:ext cx="9048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0988" y="133350"/>
            <a:ext cx="3100388" cy="347663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8" y="481012"/>
            <a:ext cx="8720138" cy="2381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24100"/>
            <a:ext cx="8810625" cy="266223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9600"/>
            <a:ext cx="3248025" cy="1528763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362" y="609600"/>
            <a:ext cx="2590800" cy="1570944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609600"/>
            <a:ext cx="2590800" cy="1570944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80988" y="195263"/>
            <a:ext cx="42576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03  데이터 전처리 </a:t>
            </a:r>
            <a:pPr algn="l" indent="0" marL="0">
              <a:lnSpc>
                <a:spcPts val="1287"/>
              </a:lnSpc>
              <a:buNone/>
            </a:pPr>
            <a:r>
              <a:rPr lang="en-US" sz="975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기후 데이터</a:t>
            </a:r>
            <a:endParaRPr lang="en-US" sz="1350" dirty="0"/>
          </a:p>
        </p:txBody>
      </p:sp>
      <p:sp>
        <p:nvSpPr>
          <p:cNvPr id="10" name="Text 2"/>
          <p:cNvSpPr/>
          <p:nvPr/>
        </p:nvSpPr>
        <p:spPr>
          <a:xfrm>
            <a:off x="8343900" y="233362"/>
            <a:ext cx="9048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0988" y="133350"/>
            <a:ext cx="3100388" cy="347663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8" y="481012"/>
            <a:ext cx="8720138" cy="2381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062038"/>
            <a:ext cx="1866900" cy="181927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463" y="1462088"/>
            <a:ext cx="1833563" cy="1909762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338" y="1971675"/>
            <a:ext cx="3357563" cy="280035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12" y="1204913"/>
            <a:ext cx="2224088" cy="51435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80988" y="195263"/>
            <a:ext cx="42576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03  데이터 전처리 </a:t>
            </a:r>
            <a:pPr algn="l" indent="0" marL="0">
              <a:lnSpc>
                <a:spcPts val="1287"/>
              </a:lnSpc>
              <a:buNone/>
            </a:pPr>
            <a:r>
              <a:rPr lang="en-US" sz="975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전력 소요량</a:t>
            </a:r>
            <a:endParaRPr lang="en-US" sz="1350" dirty="0"/>
          </a:p>
        </p:txBody>
      </p:sp>
      <p:sp>
        <p:nvSpPr>
          <p:cNvPr id="10" name="Text 2"/>
          <p:cNvSpPr/>
          <p:nvPr/>
        </p:nvSpPr>
        <p:spPr>
          <a:xfrm>
            <a:off x="8343900" y="233362"/>
            <a:ext cx="9048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0988" y="133350"/>
            <a:ext cx="3100388" cy="347663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8" y="481012"/>
            <a:ext cx="8720138" cy="2381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733550"/>
            <a:ext cx="3357563" cy="28003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1733550"/>
            <a:ext cx="3257550" cy="28003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338" y="561975"/>
            <a:ext cx="2214563" cy="852488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7888" y="762000"/>
            <a:ext cx="4848225" cy="4167188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80988" y="195263"/>
            <a:ext cx="42576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04  모델 학습 </a:t>
            </a:r>
            <a:pPr algn="l" indent="0" marL="0">
              <a:lnSpc>
                <a:spcPts val="1287"/>
              </a:lnSpc>
              <a:buNone/>
            </a:pPr>
            <a:r>
              <a:rPr lang="en-US" sz="975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학습 모델 선정</a:t>
            </a:r>
            <a:endParaRPr lang="en-US" sz="1350" dirty="0"/>
          </a:p>
        </p:txBody>
      </p:sp>
      <p:sp>
        <p:nvSpPr>
          <p:cNvPr id="10" name="Text 2"/>
          <p:cNvSpPr/>
          <p:nvPr/>
        </p:nvSpPr>
        <p:spPr>
          <a:xfrm>
            <a:off x="8343900" y="233362"/>
            <a:ext cx="9048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0988" y="133350"/>
            <a:ext cx="3100388" cy="347663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8" y="481012"/>
            <a:ext cx="8720138" cy="2381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8" y="609600"/>
            <a:ext cx="4900613" cy="282416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5" y="609600"/>
            <a:ext cx="3019425" cy="421005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80988" y="195263"/>
            <a:ext cx="42576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04  모델 학습 </a:t>
            </a:r>
            <a:pPr algn="l" indent="0" marL="0">
              <a:lnSpc>
                <a:spcPts val="1287"/>
              </a:lnSpc>
              <a:buNone/>
            </a:pPr>
            <a:r>
              <a:rPr lang="en-US" sz="975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하이퍼 파라미터 최적화 및 모델 학습</a:t>
            </a:r>
            <a:endParaRPr lang="en-US" sz="1350" dirty="0"/>
          </a:p>
        </p:txBody>
      </p:sp>
      <p:sp>
        <p:nvSpPr>
          <p:cNvPr id="8" name="Text 2"/>
          <p:cNvSpPr/>
          <p:nvPr/>
        </p:nvSpPr>
        <p:spPr>
          <a:xfrm>
            <a:off x="280988" y="3719512"/>
            <a:ext cx="4700588" cy="59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그리드 탐색을 활용, 하이퍼 파라미터를 최적화.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범위를 줄여가며 총 3번의 그리드 탐색을 진행.</a:t>
            </a:r>
            <a:endParaRPr lang="en-US" sz="1350" dirty="0"/>
          </a:p>
          <a:p>
            <a:pPr algn="l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e.g., 1000 단위, 200 단위, 50 단위</a:t>
            </a: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8343900" y="233362"/>
            <a:ext cx="9048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0988" y="133350"/>
            <a:ext cx="3100388" cy="347663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8" y="481012"/>
            <a:ext cx="8720138" cy="2381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63" y="504825"/>
            <a:ext cx="5543550" cy="235267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813" y="2857500"/>
            <a:ext cx="4667250" cy="22860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80988" y="195263"/>
            <a:ext cx="42576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05 결과 해석 </a:t>
            </a:r>
            <a:pPr algn="l" indent="0" marL="0">
              <a:lnSpc>
                <a:spcPts val="1287"/>
              </a:lnSpc>
              <a:buNone/>
            </a:pPr>
            <a:r>
              <a:rPr lang="en-US" sz="975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시각화 자료</a:t>
            </a:r>
            <a:endParaRPr lang="en-US" sz="1350" dirty="0"/>
          </a:p>
        </p:txBody>
      </p:sp>
      <p:sp>
        <p:nvSpPr>
          <p:cNvPr id="8" name="Text 2"/>
          <p:cNvSpPr/>
          <p:nvPr/>
        </p:nvSpPr>
        <p:spPr>
          <a:xfrm>
            <a:off x="8343900" y="233362"/>
            <a:ext cx="9048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0988" y="133350"/>
            <a:ext cx="3100388" cy="347663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8" y="481012"/>
            <a:ext cx="8720138" cy="2381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3" y="957263"/>
            <a:ext cx="6505575" cy="322897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80988" y="195263"/>
            <a:ext cx="42576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05 결과 해석 </a:t>
            </a:r>
            <a:pPr algn="l" indent="0" marL="0">
              <a:lnSpc>
                <a:spcPts val="1287"/>
              </a:lnSpc>
              <a:buNone/>
            </a:pPr>
            <a:r>
              <a:rPr lang="en-US" sz="975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시각화 자료</a:t>
            </a:r>
            <a:endParaRPr lang="en-US" sz="1350" dirty="0"/>
          </a:p>
        </p:txBody>
      </p:sp>
      <p:sp>
        <p:nvSpPr>
          <p:cNvPr id="7" name="Text 2"/>
          <p:cNvSpPr/>
          <p:nvPr/>
        </p:nvSpPr>
        <p:spPr>
          <a:xfrm>
            <a:off x="8343900" y="233362"/>
            <a:ext cx="9048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0988" y="133350"/>
            <a:ext cx="3100388" cy="347663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8" y="481012"/>
            <a:ext cx="8720138" cy="2381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8" y="842963"/>
            <a:ext cx="3795713" cy="220027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842963"/>
            <a:ext cx="3538538" cy="220027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80988" y="195263"/>
            <a:ext cx="42576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05 결과 해석 </a:t>
            </a:r>
            <a:pPr algn="l" indent="0" marL="0">
              <a:lnSpc>
                <a:spcPts val="1287"/>
              </a:lnSpc>
              <a:buNone/>
            </a:pPr>
            <a:r>
              <a:rPr lang="en-US" sz="975" b="1" spc="-1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XAI</a:t>
            </a:r>
            <a:endParaRPr lang="en-US" sz="1350" dirty="0"/>
          </a:p>
        </p:txBody>
      </p:sp>
      <p:sp>
        <p:nvSpPr>
          <p:cNvPr id="8" name="Text 2"/>
          <p:cNvSpPr/>
          <p:nvPr/>
        </p:nvSpPr>
        <p:spPr>
          <a:xfrm>
            <a:off x="8343900" y="233362"/>
            <a:ext cx="9048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4500" y="2124075"/>
            <a:ext cx="5715000" cy="9001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8343900" y="233362"/>
            <a:ext cx="904875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714500" y="2124075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마무리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714500" y="2786063"/>
            <a:ext cx="6172200" cy="238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spc="-13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한계점과 발전 가능성.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4500" y="2300288"/>
            <a:ext cx="5715000" cy="5476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8763000" y="257175"/>
            <a:ext cx="585788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17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714500" y="2300288"/>
            <a:ext cx="61722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spc="-72" kern="0" dirty="0">
                <a:solidFill>
                  <a:srgbClr val="000000">
                    <a:alpha val="99000"/>
                  </a:srgbClr>
                </a:solidFill>
                <a:latin typeface="Paperlogy" pitchFamily="34" charset="0"/>
                <a:ea typeface="Paperlogy" pitchFamily="34" charset="-122"/>
                <a:cs typeface="Paperlogy" pitchFamily="34" charset="-120"/>
              </a:rPr>
              <a:t>감사합니다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2025-06-17T20:48:58Z</dcterms:created>
  <dcterms:modified xsi:type="dcterms:W3CDTF">2025-06-17T20:48:58Z</dcterms:modified>
</cp:coreProperties>
</file>