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4강 실습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</a:t>
            </a:r>
            <a:endParaRPr lang="en-US" sz="5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세션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Excel 파일 읽기  ·  requests  ·  BeautifulSoup  ·  데이터 저장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A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90분  |  파트 1 (파일 수집 40분)  +  파트 2 (웹 스크래핑 45분)  +  종합 미션 5분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Python을 이용한 데이터 분석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안내  —  오늘 90분 동안 이것을 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394960" cy="38404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파트 1  —  파일 데이터 수집  (40분)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1024128" cy="1188720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5727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읽기 기초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" y="22311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1~2  ·  10분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89888" y="1481328"/>
            <a:ext cx="1024128" cy="1188720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11" name="Text 9"/>
          <p:cNvSpPr/>
          <p:nvPr/>
        </p:nvSpPr>
        <p:spPr>
          <a:xfrm>
            <a:off x="1444752" y="15727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활용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44752" y="22311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3  ·  7분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05456" y="1481328"/>
            <a:ext cx="1024128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5727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확인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0" y="22311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4  ·  7분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21024" y="1481328"/>
            <a:ext cx="1024128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675888" y="15727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Excel·저장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75888" y="22311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5  ·  7분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36592" y="1481328"/>
            <a:ext cx="1024128" cy="11887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157276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파트1 종합 미션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91456" y="22311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5852160" cy="38404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00584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파트 2  —  웹 스크래핑  (45분)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1481328"/>
            <a:ext cx="1115568" cy="118872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25" name="Text 23"/>
          <p:cNvSpPr/>
          <p:nvPr/>
        </p:nvSpPr>
        <p:spPr>
          <a:xfrm>
            <a:off x="6089904" y="157276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기초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89904" y="223113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1~2  ·  10분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42048" y="1481328"/>
            <a:ext cx="1115568" cy="1188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7296912" y="157276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BS4 파싱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96912" y="223113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1~3  ·  16분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49056" y="1481328"/>
            <a:ext cx="1115568" cy="1188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157276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추출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03920" y="223113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1~2  ·  12분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56064" y="1481328"/>
            <a:ext cx="1115568" cy="1188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9710928" y="157276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파이프라인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710928" y="223113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 ·  7분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863072" y="1481328"/>
            <a:ext cx="1115568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10917936" y="157276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파트2 종합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917936" y="223113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880360"/>
            <a:ext cx="116128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288036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종합 미션  —  스크래핑 → 정제 → 저장  (보너스 미션, 시간 남으면 도전!)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4320" y="3474720"/>
            <a:ext cx="2834640" cy="128016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365760" y="4133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빈칸을 채워서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코드를 완성하세요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64408" y="3474720"/>
            <a:ext cx="2834640" cy="128016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64408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3355848" y="4133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일찍 끝나면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 문제에 도전!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54496" y="3474720"/>
            <a:ext cx="2834640" cy="128016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🙋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6345936" y="4133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막히면 바로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 들어주세요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244584" y="3474720"/>
            <a:ext cx="2834640" cy="128016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44584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9336024" y="41330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실행해서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확인하세요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solidFill>
            <a:srgbClr val="F8FA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실습 환경 확인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" y="544068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Jupyter Notebook 또는 VS Code 열기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오늘 실습 파일 다운로드 확인: sample_data.csv  /  sample_data.xlsx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패키지 확인: import pandas as pd  /  import requests  /  from bs4 import BeautifulSoup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A4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 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데이터 수집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0E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 ·  Excel  ·  pandas  ·  데이터 확인  ·  파일 저장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0E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40분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파일 읽기  —  실습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파일 수집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960120"/>
            <a:ext cx="1280160" cy="338328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96012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1/2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100584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01752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pandas로 CSV 파일을 불러오세요.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pandas를 pd 별칭으로 import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read_csv()로 "sample_data.csv" 읽기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head()로 처음 5행 출력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shape로 행/열 수 확인 후 출력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후 몇 행, 몇 열인지 확인하세요.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454456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445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import pandas as ___  /  pd.___("파일명.csv")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102352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10235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 예)  (150, 5)  →  150행 5열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457200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pandas import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___ as pd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CSV 파일 읽기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pd.___(  "sample_data.csv"  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처음 5행 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 df.___() 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행/열 수 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print("데이터 크기:", df.___)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도전: 처음 10행 출력해보세요 ──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 df.head(___) 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5577840"/>
            <a:ext cx="61264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55778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채울 빈칸: pandas → pd  /  read_csv  /  head  /  shape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파일 읽기  —  실습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파일 수집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960120"/>
            <a:ext cx="1280160" cy="338328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96012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2/2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100584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20040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한글이 포함된 CSV 파일을 올바르게 읽으세요.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"korean_data.csv"를 그냥 읽어보기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(에러 또는 깨짐 확인)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encoding="euc-kr" 옵션 추가해서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다시 읽기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head(3)으로 한글이 잘 보이는지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472744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274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read_csv("파일명", encoding="___")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285232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28523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인코딩 종류: utf-8(기본)  /  euc-kr(한글 구형)  /  utf-8-sig(BOM)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502920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791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그냥 읽기 → 에러 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df1 = pd.read_csv("korean_data.csv")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print(df1.head(3))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print("에러:", 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인코딩 지정해서 읽기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pd.read_csv(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"korean_data.csv",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encoding = "___"    # euc-kr 또는 utf-8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print(df2.head(3))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도전: cp949 인코딩으로도 시도해보세요 ──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파일 읽기  —  파라미터 활용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파일 수집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960120"/>
            <a:ext cx="1005840" cy="338328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960120"/>
            <a:ext cx="100584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read_csv() 파라미터를 활용하세요.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usecols: "이름", "나이" 열만 읽기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nrows: 처음 50행만 읽기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sep="|" 구분자가 | 인 파일 읽기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skiprows=2: 첫 2행 건너뛰고 읽기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결과를 head(3)으로 확인하세요.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04748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pd.read_csv("파일", usecols=[___], nrows=___)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914400"/>
            <a:ext cx="6126480" cy="512064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033272"/>
            <a:ext cx="5797296" cy="4882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원하는 열만 읽기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df_cols = pd.read_csv(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"sample_data.csv",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usecols = [___, "나이"]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print(df_cols.head(3))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행 수 제한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df_rows = pd.read_csv(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"sample_data.csv",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nrows = ___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구분자 변경 (기본값은 쉼표)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df_pipe = pd.read_csv(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"pipe_data.csv",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 = "___"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행 건너뛰기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df_skip = pd.read_csv(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"sample_data.csv",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skiprows = ___)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확인 메서드  —  실습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파일 수집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960120"/>
            <a:ext cx="1005840" cy="338328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960120"/>
            <a:ext cx="100584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70332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탐색 메서드를 모두 써보세요.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sample_data.csv를 읽은 뒤: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head(5) — 처음 5행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tail(3) — 마지막 3행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shape — 행/열 수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info() — 열·타입·결측치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describe() — 통계 요약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columns — 열 이름 목록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23036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230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df.info() 는 ()를 붙이고, df.shape 와 df.columns 는 () 없음!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914400"/>
            <a:ext cx="6126480" cy="53035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033272"/>
            <a:ext cx="5797296" cy="5065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pd.read_csv("sample_data.csv")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처음 5행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 df.___() 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마지막 3행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 df.___() 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행/열 수  (괄호 없음!)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print("크기:", df.___)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열 정보 + 결측치 확인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df.___()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⑤ 수치형 열 통계 요약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 df.___() 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⑥ 열 이름 목록  (괄호 없음!)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print("열 목록:", df.___)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도전: 특정 열 하나만 출력 ──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 df["나이"].value_counts() 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읽기  &amp;  데이터 저장  —  실습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파일 수집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960120"/>
            <a:ext cx="1005840" cy="338328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960120"/>
            <a:ext cx="100584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파일 읽기와 저장을 연습합니다.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read_excel()로 "sample_data.xlsx" 읽기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sheet_name="Sheet2" 시트 읽기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읽은 데이터를 CSV로 저장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(index=False 반드시 사용!)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저장된 파일을 다시 읽어서 확인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파일명: "output.csv"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04748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to_csv("파일명", index=___, encoding="utf-8-sig")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596128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5961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index=False → 행 번호 열 제거  /  utf-8-sig → 엑셀 한글 깨짐 방지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48463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기본 시트 읽기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pd.read_excel("sample_data.xlsx")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특정 시트 읽기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pd.read_excel(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"sample_data.xlsx",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sheet_name = "___"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CSV로 저장 (index 컬럼 제거!)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"output.csv",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 = ___,          # True? False?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encoding = "utf-8-sig"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저장 파일 재확인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df_check = pd.read_csv("output.csv",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encoding="utf-8-sig")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print(df_check.head())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파트 1 종합 미션  —  CSV/Excel 데이터 수집 파이프라인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73736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종합 미션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960120"/>
            <a:ext cx="109728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96012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11612880" cy="548640"/>
          </a:xfrm>
          <a:prstGeom prst="rect">
            <a:avLst/>
          </a:prstGeom>
          <a:solidFill>
            <a:srgbClr val="E8F5F9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미션: 주어진 CSV 파일을 읽고, 탐색하고, 정제해서 새 파일로 저장하는 전체 파이프라인을 완성하세요!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3794760" cy="5029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데이터 읽기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3794760" cy="1508760"/>
          </a:xfrm>
          <a:prstGeom prst="rect">
            <a:avLst/>
          </a:prstGeom>
          <a:solidFill>
            <a:srgbClr val="F8FCFF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974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"mission_data.csv" 읽기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encoding 처리 필요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크기 확인 (shape)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2103120"/>
            <a:ext cx="37947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데이터 탐색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51960" y="2606040"/>
            <a:ext cx="3794760" cy="1508760"/>
          </a:xfrm>
          <a:prstGeom prst="rect">
            <a:avLst/>
          </a:prstGeom>
          <a:solidFill>
            <a:srgbClr val="F8FC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6974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info() 로 타입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describe() 로 통계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필요한 열만 선택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(usecols 활용)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2103120"/>
            <a:ext cx="3794760" cy="50292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저장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2606040"/>
            <a:ext cx="3794760" cy="1508760"/>
          </a:xfrm>
          <a:prstGeom prst="rect">
            <a:avLst/>
          </a:prstGeom>
          <a:solidFill>
            <a:srgbClr val="F8FCFF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6974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선택한 열만 CSV 저장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index=False 필수!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저장 후 재확인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파일명: result.csv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297680"/>
            <a:ext cx="11612880" cy="23317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416552"/>
            <a:ext cx="11283696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══ 파트 1 종합 미션 ══════════════════════════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___ as pd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pd.___("mission_data.csv", encoding="___")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print("크기:", df.___)        # STEP 1 확인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df.___()                     # STEP 2 탐색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df_sub = df[["이름", "점수", "지역"]]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df_sub.to_csv("result.csv", index=___, encoding="utf-8-sig")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df_check = pd.read_csv("result.csv", encoding="utf-8-sig")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print(df_check.head())       # STEP 3 확인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F3D1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 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스크래핑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0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 ·  BeautifulSoup  ·  테이블 추출  ·  DataFrame 저장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0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45분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 —  실습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웹 스크래핑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280160" cy="338328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1/2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960120"/>
            <a:ext cx="10058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01752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requests로 웹 페이지를 가져오세요.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URL: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"https://books.toscrape.com"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requests.get()으로 요청 보내기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상태 코드 확인 (200이면 성공!)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HTML 내용 일부 출력 ([:200])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454456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445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requests.___(url)  /  response.___  /  response.text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102352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10235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상태 코드: 200=성공  /  403=접근 거부  /  404=페이지 없음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48463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___           # requests 불러오기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"https://books.toscrape.com"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GET 요청 보내기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requests.___(url)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상태 코드 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print("상태 코드:", response.___)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HTML 내용 일부 출력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print(response.___[:200])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도전: 상태 코드 조건 처리 ──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response.status_code == ___: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print("성공!")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5852160"/>
            <a:ext cx="61264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58521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빈칸: requests  /  get  /  status_code  /  text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 —  헤더와 인코딩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웹 스크래핑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280160" cy="338328"/>
          </a:xfrm>
          <a:prstGeom prst="rect">
            <a:avLst/>
          </a:prstGeom>
          <a:solidFill>
            <a:srgbClr val="3E86F5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연습 2/2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960120"/>
            <a:ext cx="10058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70332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User-Agent 헤더를 설정하고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한글 인코딩 문제를 해결하세요.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headers 딕셔너리에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User-Agent 값 넣기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requests.get(url, headers=headers)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response.encoding = "utf-8" 로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인코딩 수동 지정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response.text 출력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23036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2303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"User-Agent": "Mozilla/5.0 ..."  →  봇 차단 우회에 사용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914400"/>
            <a:ext cx="6126480" cy="502920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033272"/>
            <a:ext cx="5797296" cy="4791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"https://example.com"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헤더 설정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 =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"___": "Mozilla/5.0 (Windows NT 10.0)"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헤더 포함 요청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___,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 = ___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인코딩 수동 지정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response.___ = "utf-8"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내용 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print(response.___[:300])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 —  파싱 &amp; find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웹 스크래핑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BS4 연습 1/3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BeautifulSoup으로 HTML을 파싱하고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원하는 요소를 찾아보세요.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BeautifulSoup으로 HTML 파싱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(파서: "html.parser")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find("title")로 페이지 제목 찾기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.text로 텍스트만 추출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find("h1")로 첫 번째 h1 태그 찾기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04748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BeautifulSoup(response.___, "html.parser")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596128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5961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find()는 첫 번째 하나만  /  find_all()은 전부 리스트로 반환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48463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bs4 import ___    # BeautifulSoup import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requests.get("https://books.toscrape.com")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HTML 파싱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soup = ___(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response.___,        # HTML 텍스트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"html.parser"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페이지 제목 찾기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title_tag = soup.___("title")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텍스트 추출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print("제목:", title_tag.___)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첫 번째 h1 태그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= soup.___("h1")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print("h1:", h1.___)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 —  find_all 활용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웹 스크래핑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BS4 연습 2/3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find_all()로 여러 요소를 한 번에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가져오세요.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https://books.toscrape.com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모든 책 제목(h3 &gt; a 태그)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find_all("h3")로 가져오기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각 h3 안의 a 태그 텍스트 출력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총 몇 권인지 len()으로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04748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soup.find_all("h3")  →  리스트 반환  /  for item in ___: 로 반복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596128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5961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 예) 총 책 수: 20  (페이지당 20권)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48463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bs4 import BeautifulSoup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requests.get("https://books.toscrape.com")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soup = BeautifulSoup(response.text, "html.parser")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모든 h3 태그 가져오기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h3_tags = soup.___(  "h3"  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각 책 제목 출력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tag in h3_tags: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= tag.find("a").___    # 텍스트 추출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print(title)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총 수 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print("총 책 수:", ___(h3_tags))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도전: 가격(p.price_color)도 가져와 보세요 ──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  —  class 속성 검색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웹 스크래핑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BS4 연습 3/3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속성으로 특정 요소만 골라내세요.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class_="price_color"인 p 태그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모두 가져오기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각 태그의 텍스트 출력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get("class")로 태그의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class 속성값 확인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href 속성 꺼내기: a.get("href")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04748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soup.find_all("p", class_="___")  →  class 이름으로 필터링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596128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5961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주의: class는 파이썬 예약어 → BS4에서는 class_ (밑줄) 사용!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48463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soup = BeautifulSoup(response.text, "html.parser")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class 로 필터링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 = soup.find_all(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___="price_color"    # class_ 사용!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텍스트 출력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prices: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print(p.___)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class 속성값 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print(prices[0].___("class"))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a 태그의 href 속성 꺼내기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 = soup.find_all("a")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in links[:5]: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print(a.___("href"))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스크래핑  —  tr/td 추출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웹 스크래핑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연습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테이블의 tr, td 태그를 직접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추출하세요.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Wikipedia 인구 순위 페이지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table 태그 찾기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모든 tr(행) 가져오기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각 tr에서 td(셀) 목록 추출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td 텍스트를 리스트로 모으기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04748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table.find_all("tr")  →  행 리스트  /  tr.find_all("td")  →  셀 리스트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596128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5961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 = 헤더 셀  /  td = 데이터 셀  →  첫 행은 th 일 때가 많음!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48463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soup = BeautifulSoup(response.text, "html.parser")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테이블 찾기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= soup.___("table")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모든 행(tr) 가져오기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table.find_all("___")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각 행에서 셀(td) 추출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rows[:5]:    # 처음 5행만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cells = row.find_all("___")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cells:           # 빈 행 건너뛰기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row_data = [c.___ for c in cells]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print(row_data)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헤더 추출 (th 태그)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 = rows[0].find_all("th")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print([h.___ for h in headers])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스크래핑  —  DataFrame 변환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웹 스크래핑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연습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추출한 테이블 데이터를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DataFrame으로 변환하세요.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헤더 행 추출 (th 태그)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데이터 행들 리스트에 모으기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pd.DataFrame(data, columns=headers)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head()로 결과 확인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도전: pd.read_html()로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한 줄에 해결해보세요!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04748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pd.DataFrame(리스트, columns=헤더리스트)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5596128"/>
            <a:ext cx="5303520" cy="438912"/>
          </a:xfrm>
          <a:prstGeom prst="rect">
            <a:avLst/>
          </a:prstGeom>
          <a:solidFill>
            <a:srgbClr val="F0F4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55961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도전: tables = pd.read_html(url)  →  테이블 목록 반환, tables[0]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6126480" cy="484632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033272"/>
            <a:ext cx="5797296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헤더 추출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header_row = rows[0]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 = [th.___ for th in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header_row.find_all("th")]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데이터 행 모으기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rows[1:]:    # 첫 행(헤더) 제외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cells = row.find_all("td")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cells: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data.___(          # data에 추가!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[c.text.strip() for c in cells]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DataFrame 변환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pd.___(data, columns=___)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확인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print(df.___(3))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스크래핑  →  DataFrame  →  저장  파이프라인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웹 스크래핑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280160" cy="3383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960120"/>
            <a:ext cx="100584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960120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352044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스크래핑부터 저장까지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흐름을 완성하세요.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requests로 페이지 가져오기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BeautifulSoup 파싱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책 제목·가격 리스트 수집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DataFrame 생성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CSV로 저장 (index=False)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5047488"/>
            <a:ext cx="5303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힌트: a.get_text(strip=True)  →  앞뒤 공백 자동 제거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914400"/>
            <a:ext cx="6126480" cy="502920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033272"/>
            <a:ext cx="5797296" cy="4791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requests, pandas as pd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bs4 import BeautifulSoup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① 요청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"https://books.toscrape.com"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requests.___(url)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② 파싱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soup = BeautifulSoup(resp.___, "html.parser")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③ 데이터 수집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titles, prices = [], []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book in soup.find_all("article", class_="product_pod"):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titles.___(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book.find("h3").find("a").get("title","")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prices.___(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book.find("p", ___="price_color").text.strip()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④ DataFrame 생성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pd.DataFrame({"제목": ___, "가격": ___})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⑤ 저장 (index=False 필수!)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df.to_csv("books.csv", index=___, encoding="utf-8-sig")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파트 2 종합 미션  —  웹 스크래핑 전체 파이프라인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737360" cy="338328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파트2 미션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960120"/>
            <a:ext cx="1097280" cy="338328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96012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1161288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미션: books.toscrape.com 에서 책 정보를 수집해 CSV로 저장하세요  (상태코드 확인 → 파싱 → 수집 → 저장)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3794760" cy="50292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요청 &amp;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3794760" cy="1554480"/>
          </a:xfrm>
          <a:prstGeom prst="rect">
            <a:avLst/>
          </a:prstGeom>
          <a:solidFill>
            <a:srgbClr val="F8FCFF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9748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requests.get(url)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status_code == 200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User-Agent 헤더 설정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2103120"/>
            <a:ext cx="379476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파싱 &amp; 추출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51960" y="2606040"/>
            <a:ext cx="3794760" cy="1554480"/>
          </a:xfrm>
          <a:prstGeom prst="rect">
            <a:avLst/>
          </a:prstGeom>
          <a:solidFill>
            <a:srgbClr val="F8FC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69748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BeautifulSoup 파싱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책 제목 (h3 &gt; a)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가격 (p.price_color)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평점 (p.star-rating)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2103120"/>
            <a:ext cx="379476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1031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 저장 &amp; 확인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2606040"/>
            <a:ext cx="3794760" cy="1554480"/>
          </a:xfrm>
          <a:prstGeom prst="rect">
            <a:avLst/>
          </a:prstGeom>
          <a:solidFill>
            <a:srgbClr val="F8FC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69748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pd.DataFrame 생성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to_csv(index=False)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head()로 재확인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총 행 수 출력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11612880" cy="251460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325112"/>
            <a:ext cx="11283696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requests, pandas as pd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bs4 import BeautifulSoup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"https://books.toscrape.com"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 = {"User-Agent": "Mozilla/5.0"}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requests.___(url, headers=___)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resp.___ == 200: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soup = BeautifulSoup(resp.___, "html.parser")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[{"제목": b.find("h3").find("a").get("title",""),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"가격": b.find("p", class_="price_color").___}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b in soup.find_all("article", class_="product_pod")]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pd.___(data)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df.to_csv("books_mission.csv", index=___, encoding="utf-8-sig")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print(df.___(3))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도전 미션  —  여러 페이지 스크래핑 (페이지네이션)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0" cy="3383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도전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960120"/>
            <a:ext cx="1554480" cy="3383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960120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 ★★★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1828800" cy="33832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6012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남으면 도전!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303520" cy="4251960"/>
          </a:xfrm>
          <a:prstGeom prst="rect">
            <a:avLst/>
          </a:prstGeom>
          <a:solidFill>
            <a:srgbClr val="EBF4FF"/>
          </a:solidFill>
          <a:ln w="12700">
            <a:solidFill>
              <a:srgbClr val="3E8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27048"/>
            <a:ext cx="4974336" cy="4032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books.toscrape.com은 50페이지로 구성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모든 페이지를 순회하며 책 정보 수집!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 URL 패턴: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https://books.toscrape.com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 .../catalogue/page-2.html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 .../catalogue/page-3.html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5페이지까지 제목+가격 수집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CSV 저장 (총 ~100권)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760720" y="914400"/>
            <a:ext cx="6126480" cy="5486400"/>
          </a:xfrm>
          <a:prstGeom prst="rect">
            <a:avLst/>
          </a:prstGeom>
          <a:solidFill>
            <a:srgbClr val="282C3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1033272"/>
            <a:ext cx="5797296" cy="5248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requests, pandas as pd, time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bs4 import BeautifulSoup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"https://books.toscrape.com/catalogue/page-{}.html"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all_data = []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page in ___(1, 6):   # 1~5 페이지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 = BASE.format(___)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requests.get(url, headers={"User-Agent":"Mozilla/5.0"})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resp.___ != 200: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print(f"페이지 {page} 실패")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___               # 이 페이지 건너뛰기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soup = BeautifulSoup(resp.___, "html.parser")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book in soup.find_all("article",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class_="product_pod"):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all_data.append({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"페이지": ___,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"제목": book.find("h3").find("a").get("title",""),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"가격": book.find("p",class_="price_color").text,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time.___(1)       # 1초 대기 (서버 부하 방지)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pd.DataFrame(___)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df.to_csv("all_books.csv", index=False, encoding="utf-8-sig")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print(f"총 {___(df)}권 수집 완료!")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4강 실습 마무리  —  오늘 배운 것 정리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394960" cy="4572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파트 1  —  파일 데이터 수집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5394960" cy="3840480"/>
          </a:xfrm>
          <a:prstGeom prst="rect">
            <a:avLst/>
          </a:prstGeom>
          <a:solidFill>
            <a:srgbClr val="F0FAFA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72768"/>
            <a:ext cx="506577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pd.read_csv("파일명", encoding="utf-8")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pd.read_excel("파일명", sheet_name="...")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df.head() / tail() / shape / info()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df.describe() / df.columns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df.to_csv("파일명", index=False)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파라미터: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encoding → 한글 처리 (utf-8 / euc-kr)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usecols  → 원하는 열만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nrows    → 행 수 제한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index=False → 저장 시 인덱스 제거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5852160" cy="45720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0058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파트 2  —  웹 스크래핑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5852160" cy="3840480"/>
          </a:xfrm>
          <a:prstGeom prst="rect">
            <a:avLst/>
          </a:prstGeom>
          <a:solidFill>
            <a:srgbClr val="F0FFF4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572768"/>
            <a:ext cx="552297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resp = requests.get(url, headers=...)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resp.status_code  →  200 확인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soup = BeautifulSoup(resp.text, "html.parser")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soup.find("태그")  →  첫 번째 요소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soup.find_all("태그", class_="클래스")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tag.text / tag.get("속성")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추출: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table → find_all("tr") → find_all("td")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pd.DataFrame(data, columns=headers)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2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pd.read_html(url)  →  원라이너!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5486400"/>
            <a:ext cx="11612880" cy="11430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532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다음 시간 (5강) — 데이터 정제 &amp; 시각화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596188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결측치 처리  ·  이상치 탐지  ·  matplotlib / seaborn 시각화  ·  차트 저장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2026-06-25T23:40:47Z</dcterms:created>
  <dcterms:modified xsi:type="dcterms:W3CDTF">2026-06-25T23:40:47Z</dcterms:modified>
</cp:coreProperties>
</file>